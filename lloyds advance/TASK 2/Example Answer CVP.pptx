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43"/>
  </p:normalViewPr>
  <p:slideViewPr>
    <p:cSldViewPr snapToGrid="0">
      <p:cViewPr varScale="1">
        <p:scale>
          <a:sx n="90" d="100"/>
          <a:sy n="90" d="100"/>
        </p:scale>
        <p:origin x="23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29F6-F322-9C3F-719D-B8C2F3719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D51E08-4C4E-521A-56D9-F7AC11538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CD900A-43F9-491A-8C52-CCB25AAFDF17}"/>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72FCEBE9-FAC0-9002-F72C-545187776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419D6-861F-0B60-2900-C83D8CDD7D74}"/>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1077129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DDE7-162C-0BFC-03E0-E85C7A107B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9D9EF-58C7-848F-215E-6F8DDBAF68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3CE723-DE14-2F37-F79A-B40CD359C8D4}"/>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27FC23A8-9DE2-AB52-ACD9-C13F62E279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4BE21-796D-DE25-4197-2A89AFA7FE8D}"/>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3243564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4CF5D-8895-B031-4B2A-243237078E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E095E3-25D7-8A21-C701-1E354A693C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3313F-B13E-E1E3-A9DA-EDC1F1DEC4FC}"/>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BF7C84FA-9E04-F1AB-F62D-406B04289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FDC8B7-EBD6-332E-7C73-27CFBAE2A482}"/>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317926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B77D-28D2-2F43-2C36-06B6EB86E3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0C57C5-C376-5A6F-C0C4-3A95359EEA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568145-47B9-172C-5CCA-50F1F3B6EE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0CCAD9-9436-7480-405A-A2C5A517F81A}"/>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6" name="Footer Placeholder 5">
            <a:extLst>
              <a:ext uri="{FF2B5EF4-FFF2-40B4-BE49-F238E27FC236}">
                <a16:creationId xmlns:a16="http://schemas.microsoft.com/office/drawing/2014/main" id="{7EFDF1E3-9F5F-2E0E-56A8-FFED23F3B2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45516-B81E-1E96-D523-5F0EB88B56B7}"/>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254026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0DA8-4472-284C-BFB7-C24ED7C407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ACEB85-20D3-33A5-3243-37B172F807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73FCAE-CC97-6CFA-BF0B-AA8E574D39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EEC02D-C457-B693-4764-C9F458795E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484A9F-CCA8-EEA8-CEEE-3069B7F5F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A3B7C8-0352-D4E0-60AC-20E3B99C9F13}"/>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8" name="Footer Placeholder 7">
            <a:extLst>
              <a:ext uri="{FF2B5EF4-FFF2-40B4-BE49-F238E27FC236}">
                <a16:creationId xmlns:a16="http://schemas.microsoft.com/office/drawing/2014/main" id="{E1287B06-57A4-CFBA-C883-FA23676259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1D495A-EC34-B917-2383-CD45537C23AB}"/>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3100532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C5DB2-5832-AC89-644A-2FCA6EB1FE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31080B-8A64-F054-03AB-BB41ACC367AE}"/>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4" name="Footer Placeholder 3">
            <a:extLst>
              <a:ext uri="{FF2B5EF4-FFF2-40B4-BE49-F238E27FC236}">
                <a16:creationId xmlns:a16="http://schemas.microsoft.com/office/drawing/2014/main" id="{2DF08EC9-2ADF-7BE9-9195-CF770C6D14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444995-044B-71E6-BDC8-B44B3EF11A5F}"/>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826721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6806B7-4A18-212D-BFA4-443F149FB005}"/>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3" name="Footer Placeholder 2">
            <a:extLst>
              <a:ext uri="{FF2B5EF4-FFF2-40B4-BE49-F238E27FC236}">
                <a16:creationId xmlns:a16="http://schemas.microsoft.com/office/drawing/2014/main" id="{3A1EC0E9-8606-3E15-CBF5-C9E9D285C0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DC13C9-F64C-383B-15BD-C790479160FD}"/>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93525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C671-3F37-C4EB-C2A3-38170FE96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C01895-DC4F-11C9-589B-97F0A3B5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E466B6-7D15-0986-C488-721E22A31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05E-172F-1B68-81D6-C5E8681C47E1}"/>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6" name="Footer Placeholder 5">
            <a:extLst>
              <a:ext uri="{FF2B5EF4-FFF2-40B4-BE49-F238E27FC236}">
                <a16:creationId xmlns:a16="http://schemas.microsoft.com/office/drawing/2014/main" id="{46301FE5-BB6E-3CBE-CEC4-A06DDBC74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73861E-A9AB-0E5D-A5CD-6996FB424061}"/>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124538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10E4-CAAC-5D0A-B881-24F9832708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6A87E4-6E31-9648-93DA-A386F383D3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7A09C7-F001-DB12-4621-03F08F5C3F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5155F5-79B6-7233-580C-FFABD69B3B8D}"/>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6" name="Footer Placeholder 5">
            <a:extLst>
              <a:ext uri="{FF2B5EF4-FFF2-40B4-BE49-F238E27FC236}">
                <a16:creationId xmlns:a16="http://schemas.microsoft.com/office/drawing/2014/main" id="{11805DD6-ACB2-4AA9-765F-A634FEFDEB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3874C4-C63F-5A20-0548-81899F639434}"/>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970378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108E-A600-EE04-4263-FA9B58F294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636AB2-811D-BCF4-79F2-263BB1715E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B75E0-A706-EBAC-A41C-42FDEC3577D4}"/>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FA815A25-2956-A6E6-7D8D-EBE8093BF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CF4D2-5433-6626-D5D8-D2D94A649CEA}"/>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301337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EE60A8-EA94-9B79-7A52-EEFC09A28C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2D5B68-1278-A371-92BA-BA6CF76620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7B9DE-C505-5E83-318F-904C1FD341CE}"/>
              </a:ext>
            </a:extLst>
          </p:cNvPr>
          <p:cNvSpPr>
            <a:spLocks noGrp="1"/>
          </p:cNvSpPr>
          <p:nvPr>
            <p:ph type="dt" sz="half" idx="10"/>
          </p:nvPr>
        </p:nvSpPr>
        <p:spPr/>
        <p:txBody>
          <a:body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EAFFF8BC-DB20-0984-1677-444F88CD1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860E3-0B9F-2453-1941-0AE565D2176D}"/>
              </a:ext>
            </a:extLst>
          </p:cNvPr>
          <p:cNvSpPr>
            <a:spLocks noGrp="1"/>
          </p:cNvSpPr>
          <p:nvPr>
            <p:ph type="sldNum" sz="quarter" idx="12"/>
          </p:nvPr>
        </p:nvSpPr>
        <p:spPr/>
        <p:txBody>
          <a:bodyPr/>
          <a:lstStyle/>
          <a:p>
            <a:fld id="{020191AC-F03B-654E-B1A3-6B7010518203}" type="slidenum">
              <a:rPr lang="en-US" smtClean="0"/>
              <a:t>‹#›</a:t>
            </a:fld>
            <a:endParaRPr lang="en-US"/>
          </a:p>
        </p:txBody>
      </p:sp>
    </p:spTree>
    <p:extLst>
      <p:ext uri="{BB962C8B-B14F-4D97-AF65-F5344CB8AC3E}">
        <p14:creationId xmlns:p14="http://schemas.microsoft.com/office/powerpoint/2010/main" val="2273136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1A9555-6876-1FF1-EA6F-84EFB792CC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A6AF2D-D2F8-9355-43E2-71FF74DD1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BCC31-0B37-65C5-1993-C17E7D783A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AD07E6-C738-D246-9F4A-66784D7970D2}" type="datetimeFigureOut">
              <a:rPr lang="en-US" smtClean="0"/>
              <a:t>7/31/24</a:t>
            </a:fld>
            <a:endParaRPr lang="en-US"/>
          </a:p>
        </p:txBody>
      </p:sp>
      <p:sp>
        <p:nvSpPr>
          <p:cNvPr id="5" name="Footer Placeholder 4">
            <a:extLst>
              <a:ext uri="{FF2B5EF4-FFF2-40B4-BE49-F238E27FC236}">
                <a16:creationId xmlns:a16="http://schemas.microsoft.com/office/drawing/2014/main" id="{ADD30100-6C5B-DEEB-6F2C-AB27B1B46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716EC8-61B6-3434-6228-0DE3AC2318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0191AC-F03B-654E-B1A3-6B7010518203}" type="slidenum">
              <a:rPr lang="en-US" smtClean="0"/>
              <a:t>‹#›</a:t>
            </a:fld>
            <a:endParaRPr lang="en-US"/>
          </a:p>
        </p:txBody>
      </p:sp>
    </p:spTree>
    <p:extLst>
      <p:ext uri="{BB962C8B-B14F-4D97-AF65-F5344CB8AC3E}">
        <p14:creationId xmlns:p14="http://schemas.microsoft.com/office/powerpoint/2010/main" val="222932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F18414D-1626-4996-AACB-23D3DE45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8D4FBEB-5433-1897-4BC3-DCDB5A3EB03A}"/>
              </a:ext>
            </a:extLst>
          </p:cNvPr>
          <p:cNvSpPr>
            <a:spLocks noGrp="1"/>
          </p:cNvSpPr>
          <p:nvPr>
            <p:ph type="ctrTitle"/>
          </p:nvPr>
        </p:nvSpPr>
        <p:spPr>
          <a:xfrm>
            <a:off x="1929283" y="707132"/>
            <a:ext cx="5469129" cy="2387600"/>
          </a:xfrm>
        </p:spPr>
        <p:txBody>
          <a:bodyPr>
            <a:normAutofit/>
          </a:bodyPr>
          <a:lstStyle/>
          <a:p>
            <a:pPr algn="l"/>
            <a:r>
              <a:rPr lang="en-US" sz="4400">
                <a:solidFill>
                  <a:schemeClr val="bg1"/>
                </a:solidFill>
              </a:rPr>
              <a:t>Crafting a Customer Value Proposition for Lloyds Digital Banking</a:t>
            </a:r>
          </a:p>
        </p:txBody>
      </p:sp>
      <p:sp>
        <p:nvSpPr>
          <p:cNvPr id="3" name="Subtitle 2">
            <a:extLst>
              <a:ext uri="{FF2B5EF4-FFF2-40B4-BE49-F238E27FC236}">
                <a16:creationId xmlns:a16="http://schemas.microsoft.com/office/drawing/2014/main" id="{5F2B645D-1873-1C53-2560-8FE7A88E26B8}"/>
              </a:ext>
            </a:extLst>
          </p:cNvPr>
          <p:cNvSpPr>
            <a:spLocks noGrp="1"/>
          </p:cNvSpPr>
          <p:nvPr>
            <p:ph type="subTitle" idx="1"/>
          </p:nvPr>
        </p:nvSpPr>
        <p:spPr>
          <a:xfrm>
            <a:off x="1929283" y="3494783"/>
            <a:ext cx="5469127" cy="2201159"/>
          </a:xfrm>
        </p:spPr>
        <p:txBody>
          <a:bodyPr>
            <a:normAutofit/>
          </a:bodyPr>
          <a:lstStyle/>
          <a:p>
            <a:pPr algn="l"/>
            <a:endParaRPr lang="en-US" sz="2800">
              <a:solidFill>
                <a:schemeClr val="bg1"/>
              </a:solidFill>
            </a:endParaRPr>
          </a:p>
        </p:txBody>
      </p:sp>
      <p:sp>
        <p:nvSpPr>
          <p:cNvPr id="32" name="Rectangle 3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929284" y="3209925"/>
            <a:ext cx="1026271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707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D5E2D36-2373-52A7-8E15-6B7B3760CF00}"/>
              </a:ext>
            </a:extLst>
          </p:cNvPr>
          <p:cNvSpPr>
            <a:spLocks noGrp="1"/>
          </p:cNvSpPr>
          <p:nvPr>
            <p:ph type="title"/>
          </p:nvPr>
        </p:nvSpPr>
        <p:spPr>
          <a:xfrm>
            <a:off x="922635" y="1250575"/>
            <a:ext cx="4604274" cy="4163210"/>
          </a:xfrm>
        </p:spPr>
        <p:txBody>
          <a:bodyPr anchor="ctr">
            <a:normAutofit/>
          </a:bodyPr>
          <a:lstStyle/>
          <a:p>
            <a:r>
              <a:rPr lang="en-US" sz="6800" b="1">
                <a:solidFill>
                  <a:schemeClr val="bg1"/>
                </a:solidFill>
              </a:rPr>
              <a:t>Key Insights from Customer Research</a:t>
            </a:r>
            <a:endParaRPr lang="en-US" sz="6800">
              <a:solidFill>
                <a:schemeClr val="bg1"/>
              </a:solidFill>
            </a:endParaRPr>
          </a:p>
        </p:txBody>
      </p:sp>
      <p:sp>
        <p:nvSpPr>
          <p:cNvPr id="23" name="Rectangle 22">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476" y="1100949"/>
            <a:ext cx="4996593"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A2FCF9-59BD-0B2B-9A21-B5D5C2822676}"/>
              </a:ext>
            </a:extLst>
          </p:cNvPr>
          <p:cNvSpPr>
            <a:spLocks noGrp="1"/>
          </p:cNvSpPr>
          <p:nvPr>
            <p:ph idx="1"/>
          </p:nvPr>
        </p:nvSpPr>
        <p:spPr>
          <a:xfrm>
            <a:off x="6293224" y="860612"/>
            <a:ext cx="4797909" cy="5023821"/>
          </a:xfrm>
        </p:spPr>
        <p:txBody>
          <a:bodyPr anchor="ctr">
            <a:normAutofit/>
          </a:bodyPr>
          <a:lstStyle/>
          <a:p>
            <a:pPr>
              <a:buFont typeface="Arial" panose="020B0604020202020204" pitchFamily="34" charset="0"/>
              <a:buChar char="•"/>
            </a:pPr>
            <a:r>
              <a:rPr lang="en-US" sz="2000">
                <a:solidFill>
                  <a:schemeClr val="bg1"/>
                </a:solidFill>
              </a:rPr>
              <a:t>Frequent Overdrafts: Many younger customers experience frequent overdrafts, indicating a need for better financial management tools.</a:t>
            </a:r>
          </a:p>
          <a:p>
            <a:pPr>
              <a:buFont typeface="Arial" panose="020B0604020202020204" pitchFamily="34" charset="0"/>
              <a:buChar char="•"/>
            </a:pPr>
            <a:r>
              <a:rPr lang="en-US" sz="2000">
                <a:solidFill>
                  <a:schemeClr val="bg1"/>
                </a:solidFill>
              </a:rPr>
              <a:t>Low Engagement with Budgeting Tools: There is low usage of available budgeting features, suggesting they may not meet user expectations or be user-friendly.</a:t>
            </a:r>
          </a:p>
          <a:p>
            <a:pPr>
              <a:buFont typeface="Arial" panose="020B0604020202020204" pitchFamily="34" charset="0"/>
              <a:buChar char="•"/>
            </a:pPr>
            <a:r>
              <a:rPr lang="en-US" sz="2000">
                <a:solidFill>
                  <a:schemeClr val="bg1"/>
                </a:solidFill>
              </a:rPr>
              <a:t>Demand for Personalised Services: Customers express a desire for more personalised financial advice and alerts.</a:t>
            </a:r>
          </a:p>
          <a:p>
            <a:endParaRPr lang="en-US" sz="2000">
              <a:solidFill>
                <a:schemeClr val="bg1"/>
              </a:solidFill>
            </a:endParaRPr>
          </a:p>
        </p:txBody>
      </p:sp>
    </p:spTree>
    <p:extLst>
      <p:ext uri="{BB962C8B-B14F-4D97-AF65-F5344CB8AC3E}">
        <p14:creationId xmlns:p14="http://schemas.microsoft.com/office/powerpoint/2010/main" val="276080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53B14E3-9ADD-5455-FEC6-887A6C2157BA}"/>
              </a:ext>
            </a:extLst>
          </p:cNvPr>
          <p:cNvSpPr>
            <a:spLocks noGrp="1"/>
          </p:cNvSpPr>
          <p:nvPr>
            <p:ph type="title"/>
          </p:nvPr>
        </p:nvSpPr>
        <p:spPr>
          <a:xfrm>
            <a:off x="1014141" y="1450655"/>
            <a:ext cx="3932030" cy="3956690"/>
          </a:xfrm>
        </p:spPr>
        <p:txBody>
          <a:bodyPr anchor="ctr">
            <a:normAutofit/>
          </a:bodyPr>
          <a:lstStyle/>
          <a:p>
            <a:r>
              <a:rPr lang="en-US" b="1">
                <a:solidFill>
                  <a:schemeClr val="bg1"/>
                </a:solidFill>
              </a:rPr>
              <a:t>Lloyds Digital Banking: Your Partner in Financial Well-being</a:t>
            </a:r>
            <a:br>
              <a:rPr lang="en-US" b="1">
                <a:solidFill>
                  <a:schemeClr val="bg1"/>
                </a:solidFill>
              </a:rPr>
            </a:br>
            <a:endParaRPr lang="en-US">
              <a:solidFill>
                <a:schemeClr val="bg1"/>
              </a:solidFill>
            </a:endParaRP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A845C3-FCAF-00AF-DC30-233B785997ED}"/>
              </a:ext>
            </a:extLst>
          </p:cNvPr>
          <p:cNvSpPr>
            <a:spLocks noGrp="1"/>
          </p:cNvSpPr>
          <p:nvPr>
            <p:ph idx="1"/>
          </p:nvPr>
        </p:nvSpPr>
        <p:spPr>
          <a:xfrm>
            <a:off x="6096000" y="1108061"/>
            <a:ext cx="5008901" cy="4571972"/>
          </a:xfrm>
        </p:spPr>
        <p:txBody>
          <a:bodyPr anchor="ctr">
            <a:normAutofit/>
          </a:bodyPr>
          <a:lstStyle/>
          <a:p>
            <a:r>
              <a:rPr lang="en-US" sz="2000">
                <a:solidFill>
                  <a:schemeClr val="bg1"/>
                </a:solidFill>
              </a:rPr>
              <a:t>Our digital banking platform empowers customers to manage their finances confidently with intuitive tools, personalised insights, and robust security features, all designed to simplify financial management and enhance peace of mind.</a:t>
            </a:r>
          </a:p>
          <a:p>
            <a:endParaRPr lang="en-US" sz="2000">
              <a:solidFill>
                <a:schemeClr val="bg1"/>
              </a:solidFill>
            </a:endParaRPr>
          </a:p>
        </p:txBody>
      </p:sp>
    </p:spTree>
    <p:extLst>
      <p:ext uri="{BB962C8B-B14F-4D97-AF65-F5344CB8AC3E}">
        <p14:creationId xmlns:p14="http://schemas.microsoft.com/office/powerpoint/2010/main" val="558227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4B854D41-9760-007E-D2C2-D913FFEFA6ED}"/>
              </a:ext>
            </a:extLst>
          </p:cNvPr>
          <p:cNvSpPr>
            <a:spLocks noGrp="1"/>
          </p:cNvSpPr>
          <p:nvPr>
            <p:ph type="title"/>
          </p:nvPr>
        </p:nvSpPr>
        <p:spPr>
          <a:xfrm>
            <a:off x="1014141" y="1450655"/>
            <a:ext cx="3932030" cy="3956690"/>
          </a:xfrm>
        </p:spPr>
        <p:txBody>
          <a:bodyPr vert="horz" lIns="91440" tIns="45720" rIns="91440" bIns="45720" rtlCol="0" anchor="ctr">
            <a:normAutofit/>
          </a:bodyPr>
          <a:lstStyle/>
          <a:p>
            <a:r>
              <a:rPr lang="en-US" sz="6800" kern="1200">
                <a:solidFill>
                  <a:schemeClr val="bg1"/>
                </a:solidFill>
                <a:latin typeface="+mj-lt"/>
                <a:ea typeface="+mj-ea"/>
                <a:cs typeface="+mj-cs"/>
              </a:rPr>
              <a:t>What Makes Our Service Unique?</a:t>
            </a:r>
          </a:p>
        </p:txBody>
      </p:sp>
      <p:cxnSp>
        <p:nvCxnSpPr>
          <p:cNvPr id="12" name="Straight Connector 11">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C084A70-F118-4862-8FC7-DB1D1825D360}"/>
              </a:ext>
            </a:extLst>
          </p:cNvPr>
          <p:cNvSpPr txBox="1"/>
          <p:nvPr/>
        </p:nvSpPr>
        <p:spPr>
          <a:xfrm>
            <a:off x="6096000" y="1108061"/>
            <a:ext cx="5008901" cy="457197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solidFill>
                  <a:schemeClr val="bg1"/>
                </a:solidFill>
              </a:rPr>
              <a:t>Personalised Financial Management: Our platform offers tailored financial advice and alerts, helping customers stay on top of their spending and avoid overdrafts.User-Friendly Budgeting Tools: We provide easy-to-use budgeting features that cater to different financial goals, encouraging better engagement and usage.Enhanced Security: Customers can trust our advanced security measures, ensuring their data and transactions are protected.</a:t>
            </a:r>
          </a:p>
        </p:txBody>
      </p:sp>
    </p:spTree>
    <p:extLst>
      <p:ext uri="{BB962C8B-B14F-4D97-AF65-F5344CB8AC3E}">
        <p14:creationId xmlns:p14="http://schemas.microsoft.com/office/powerpoint/2010/main" val="2945908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D4AD0B-C41C-1C28-C19A-DFE2CFE5DAB1}"/>
              </a:ext>
            </a:extLst>
          </p:cNvPr>
          <p:cNvSpPr>
            <a:spLocks noGrp="1"/>
          </p:cNvSpPr>
          <p:nvPr>
            <p:ph type="title"/>
          </p:nvPr>
        </p:nvSpPr>
        <p:spPr>
          <a:xfrm>
            <a:off x="838200" y="1748452"/>
            <a:ext cx="4974771" cy="3587786"/>
          </a:xfrm>
        </p:spPr>
        <p:txBody>
          <a:bodyPr>
            <a:normAutofit/>
          </a:bodyPr>
          <a:lstStyle/>
          <a:p>
            <a:pPr algn="ctr"/>
            <a:r>
              <a:rPr lang="en-US" b="1">
                <a:solidFill>
                  <a:schemeClr val="bg1"/>
                </a:solidFill>
              </a:rPr>
              <a:t>Meeting Our Customers Where They Are</a:t>
            </a:r>
            <a:br>
              <a:rPr lang="en-US" b="1">
                <a:solidFill>
                  <a:schemeClr val="bg1"/>
                </a:solidFill>
              </a:rPr>
            </a:br>
            <a:endParaRPr lang="en-US">
              <a:solidFill>
                <a:schemeClr val="bg1"/>
              </a:solidFill>
            </a:endParaRP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AC56FFC3-9454-7D3A-7A0B-E877E1642C30}"/>
              </a:ext>
            </a:extLst>
          </p:cNvPr>
          <p:cNvSpPr>
            <a:spLocks noGrp="1"/>
          </p:cNvSpPr>
          <p:nvPr>
            <p:ph idx="1"/>
          </p:nvPr>
        </p:nvSpPr>
        <p:spPr>
          <a:xfrm>
            <a:off x="6477270" y="1130846"/>
            <a:ext cx="4974771" cy="4351338"/>
          </a:xfrm>
        </p:spPr>
        <p:txBody>
          <a:bodyPr>
            <a:normAutofit/>
          </a:bodyPr>
          <a:lstStyle/>
          <a:p>
            <a:r>
              <a:rPr lang="en-US" sz="2200">
                <a:solidFill>
                  <a:schemeClr val="bg1"/>
                </a:solidFill>
              </a:rPr>
              <a:t>Young Adults (18-30): Focus on intuitive financial management tools and educational resources to help this segment manage their finances better.</a:t>
            </a:r>
          </a:p>
          <a:p>
            <a:r>
              <a:rPr lang="en-US" sz="2200">
                <a:solidFill>
                  <a:schemeClr val="bg1"/>
                </a:solidFill>
              </a:rPr>
              <a:t>Tech-Savvy Users: Highlight our seamless integration with other financial apps and personalised alerts.</a:t>
            </a:r>
          </a:p>
          <a:p>
            <a:r>
              <a:rPr lang="en-US" sz="2200">
                <a:solidFill>
                  <a:schemeClr val="bg1"/>
                </a:solidFill>
              </a:rPr>
              <a:t>Security-Conscious Customers: Emphasise our commitment to security and data protection, reassuring users of their safety online.</a:t>
            </a:r>
          </a:p>
        </p:txBody>
      </p:sp>
    </p:spTree>
    <p:extLst>
      <p:ext uri="{BB962C8B-B14F-4D97-AF65-F5344CB8AC3E}">
        <p14:creationId xmlns:p14="http://schemas.microsoft.com/office/powerpoint/2010/main" val="2173855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25A5FBC-9909-454A-DB71-0972042A1F7B}"/>
              </a:ext>
            </a:extLst>
          </p:cNvPr>
          <p:cNvSpPr>
            <a:spLocks noGrp="1"/>
          </p:cNvSpPr>
          <p:nvPr>
            <p:ph type="title"/>
          </p:nvPr>
        </p:nvSpPr>
        <p:spPr>
          <a:xfrm>
            <a:off x="1014141" y="1450655"/>
            <a:ext cx="3932030" cy="3956690"/>
          </a:xfrm>
        </p:spPr>
        <p:txBody>
          <a:bodyPr anchor="ctr">
            <a:normAutofit/>
          </a:bodyPr>
          <a:lstStyle/>
          <a:p>
            <a:r>
              <a:rPr lang="en-US" sz="6800" b="1">
                <a:solidFill>
                  <a:schemeClr val="bg1"/>
                </a:solidFill>
              </a:rPr>
              <a:t>Bringing the CVP to Life</a:t>
            </a:r>
            <a:br>
              <a:rPr lang="en-US" sz="6800" b="1">
                <a:solidFill>
                  <a:schemeClr val="bg1"/>
                </a:solidFill>
              </a:rPr>
            </a:br>
            <a:endParaRPr lang="en-US" sz="6800">
              <a:solidFill>
                <a:schemeClr val="bg1"/>
              </a:solidFill>
            </a:endParaRPr>
          </a:p>
        </p:txBody>
      </p:sp>
      <p:cxnSp>
        <p:nvCxnSpPr>
          <p:cNvPr id="34" name="Straight Connector 33">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F5C0E07-6118-E843-31A1-02D86814E21F}"/>
              </a:ext>
            </a:extLst>
          </p:cNvPr>
          <p:cNvSpPr>
            <a:spLocks noGrp="1"/>
          </p:cNvSpPr>
          <p:nvPr>
            <p:ph idx="1"/>
          </p:nvPr>
        </p:nvSpPr>
        <p:spPr>
          <a:xfrm>
            <a:off x="6096000" y="1108061"/>
            <a:ext cx="5008901" cy="4571972"/>
          </a:xfrm>
        </p:spPr>
        <p:txBody>
          <a:bodyPr anchor="ctr">
            <a:normAutofit/>
          </a:bodyPr>
          <a:lstStyle/>
          <a:p>
            <a:pPr>
              <a:buFont typeface="Arial" panose="020B0604020202020204" pitchFamily="34" charset="0"/>
              <a:buChar char="•"/>
            </a:pPr>
            <a:r>
              <a:rPr lang="en-US" sz="2000">
                <a:solidFill>
                  <a:schemeClr val="bg1"/>
                </a:solidFill>
              </a:rPr>
              <a:t>Screenshots of the Platform: Showcasing the intuitive design of our budgeting tools and personalised dashboard.</a:t>
            </a:r>
          </a:p>
          <a:p>
            <a:pPr>
              <a:buFont typeface="Arial" panose="020B0604020202020204" pitchFamily="34" charset="0"/>
              <a:buChar char="•"/>
            </a:pPr>
            <a:r>
              <a:rPr lang="en-US" sz="2000">
                <a:solidFill>
                  <a:schemeClr val="bg1"/>
                </a:solidFill>
              </a:rPr>
              <a:t>Customer Testimonials: Quotes from users who have benefited from the financial management features.</a:t>
            </a:r>
          </a:p>
          <a:p>
            <a:endParaRPr lang="en-US" sz="2000">
              <a:solidFill>
                <a:schemeClr val="bg1"/>
              </a:solidFill>
            </a:endParaRPr>
          </a:p>
        </p:txBody>
      </p:sp>
    </p:spTree>
    <p:extLst>
      <p:ext uri="{BB962C8B-B14F-4D97-AF65-F5344CB8AC3E}">
        <p14:creationId xmlns:p14="http://schemas.microsoft.com/office/powerpoint/2010/main" val="1301919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5E33616-DDFB-ECE2-F478-AFC59924CBD0}"/>
              </a:ext>
            </a:extLst>
          </p:cNvPr>
          <p:cNvSpPr>
            <a:spLocks noGrp="1"/>
          </p:cNvSpPr>
          <p:nvPr>
            <p:ph type="title"/>
          </p:nvPr>
        </p:nvSpPr>
        <p:spPr>
          <a:xfrm>
            <a:off x="922635" y="1250575"/>
            <a:ext cx="4604274" cy="4163210"/>
          </a:xfrm>
        </p:spPr>
        <p:txBody>
          <a:bodyPr vert="horz" lIns="91440" tIns="45720" rIns="91440" bIns="45720" rtlCol="0" anchor="ctr">
            <a:normAutofit/>
          </a:bodyPr>
          <a:lstStyle/>
          <a:p>
            <a:r>
              <a:rPr lang="en-US" sz="5000" b="1" kern="1200">
                <a:solidFill>
                  <a:schemeClr val="bg1"/>
                </a:solidFill>
                <a:latin typeface="+mj-lt"/>
                <a:ea typeface="+mj-ea"/>
                <a:cs typeface="+mj-cs"/>
              </a:rPr>
              <a:t>Positioning Lloyds as a Leader in Digital Banking</a:t>
            </a:r>
            <a:br>
              <a:rPr lang="en-US" sz="5000" b="1" kern="1200">
                <a:solidFill>
                  <a:schemeClr val="bg1"/>
                </a:solidFill>
                <a:latin typeface="+mj-lt"/>
                <a:ea typeface="+mj-ea"/>
                <a:cs typeface="+mj-cs"/>
              </a:rPr>
            </a:br>
            <a:endParaRPr lang="en-US" sz="5000" kern="120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476" y="1100949"/>
            <a:ext cx="4996593"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1740850-FBD6-8313-F6F5-4612858B9468}"/>
              </a:ext>
            </a:extLst>
          </p:cNvPr>
          <p:cNvSpPr txBox="1"/>
          <p:nvPr/>
        </p:nvSpPr>
        <p:spPr>
          <a:xfrm>
            <a:off x="6293224" y="860612"/>
            <a:ext cx="4797909" cy="5023821"/>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solidFill>
                  <a:schemeClr val="bg1"/>
                </a:solidFill>
              </a:rPr>
              <a:t>The proposed CVP positions Lloyds Bank as a trusted partner in financial well-being, offering solutions that are both innovative and customer-centric. The next steps include refining the messaging, training staff to communicate the CVP effectively, and integrating these messages into our marketing and customer engagement strategies.</a:t>
            </a:r>
          </a:p>
        </p:txBody>
      </p:sp>
    </p:spTree>
    <p:extLst>
      <p:ext uri="{BB962C8B-B14F-4D97-AF65-F5344CB8AC3E}">
        <p14:creationId xmlns:p14="http://schemas.microsoft.com/office/powerpoint/2010/main" val="3320638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1259</TotalTime>
  <Words>355</Words>
  <Application>Microsoft Macintosh PowerPoint</Application>
  <PresentationFormat>Widescreen</PresentationFormat>
  <Paragraphs>18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Crafting a Customer Value Proposition for Lloyds Digital Banking</vt:lpstr>
      <vt:lpstr>Key Insights from Customer Research</vt:lpstr>
      <vt:lpstr>Lloyds Digital Banking: Your Partner in Financial Well-being </vt:lpstr>
      <vt:lpstr>What Makes Our Service Unique?</vt:lpstr>
      <vt:lpstr>Meeting Our Customers Where They Are </vt:lpstr>
      <vt:lpstr>Bringing the CVP to Life </vt:lpstr>
      <vt:lpstr>Positioning Lloyds as a Leader in Digital Banking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Young, Aimee</dc:creator>
  <cp:lastModifiedBy>Young, Aimee</cp:lastModifiedBy>
  <cp:revision>1</cp:revision>
  <dcterms:created xsi:type="dcterms:W3CDTF">2024-07-31T16:36:53Z</dcterms:created>
  <dcterms:modified xsi:type="dcterms:W3CDTF">2024-08-01T13:36:02Z</dcterms:modified>
</cp:coreProperties>
</file>